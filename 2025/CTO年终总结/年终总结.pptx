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2025年度研发中心工作汇报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以客户为中心，迈向新征程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0"/>
            <a:ext cx="2560320" cy="1645920"/>
          </a:xfrm>
          <a:prstGeom prst="roundRect">
            <a:avLst/>
          </a:prstGeom>
          <a:solidFill>
            <a:srgbClr val="FFFFFF">
              <a:lumMod val="85000"/>
              <a:lumOff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0233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Drive 战略落地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3891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从零组建团队</a:t>
            </a:r>
            <a:br/>
            <a:r>
              <a:t>半年交付三大标杆客户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59" y="3840480"/>
            <a:ext cx="2560320" cy="1645920"/>
          </a:xfrm>
          <a:prstGeom prst="roundRect">
            <a:avLst/>
          </a:prstGeom>
          <a:solidFill>
            <a:srgbClr val="FFFFFF">
              <a:lumMod val="85000"/>
              <a:lumOff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40233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内部体验机制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43891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构建 shimo.net</a:t>
            </a:r>
            <a:br/>
            <a:r>
              <a:t>回归客户视角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799" y="3840480"/>
            <a:ext cx="2560320" cy="1645920"/>
          </a:xfrm>
          <a:prstGeom prst="roundRect">
            <a:avLst/>
          </a:prstGeom>
          <a:solidFill>
            <a:srgbClr val="FFFFFF">
              <a:lumMod val="85000"/>
              <a:lumOff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59" y="40233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自动化部署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59" y="43891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POC 无需立项</a:t>
            </a:r>
            <a:br/>
            <a:r>
              <a:t>非 SRE 亦可操作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3840480"/>
            <a:ext cx="2560320" cy="1645920"/>
          </a:xfrm>
          <a:prstGeom prst="roundRect">
            <a:avLst/>
          </a:prstGeom>
          <a:solidFill>
            <a:srgbClr val="FFFFFF">
              <a:lumMod val="85000"/>
              <a:lumOff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600" y="40233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AI 提效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43891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一个月完成类飞书产品</a:t>
            </a:r>
            <a:br/>
            <a:r>
              <a:t>全面赋能研发流程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Drive 的战略意义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C757D"/>
                </a:solidFill>
              </a:defRPr>
            </a:pPr>
            <a:r>
              <a:t>愿景：文档届的 GitLab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4572000" cy="2560320"/>
          </a:xfrm>
          <a:prstGeom prst="roundRect">
            <a:avLst/>
          </a:prstGeom>
          <a:solidFill>
            <a:srgbClr val="FEF5F5"/>
          </a:solidFill>
          <a:ln>
            <a:solidFill>
              <a:srgbClr val="F8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C3545"/>
                </a:solidFill>
              </a:defRPr>
            </a:pPr>
            <a:r>
              <a:t>过去 (2024)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495057"/>
                </a:solidFill>
              </a:defRPr>
            </a:pPr>
            <a:r>
              <a:t>✗ 全站版本部署和运维复杂</a:t>
            </a:r>
          </a:p>
          <a:p>
            <a:pPr>
              <a:spcAft>
                <a:spcPts val="800"/>
              </a:spcAft>
              <a:defRPr sz="1300">
                <a:solidFill>
                  <a:srgbClr val="495057"/>
                </a:solidFill>
              </a:defRPr>
            </a:pPr>
            <a:r>
              <a:t>✗ 成本高、利润低</a:t>
            </a:r>
          </a:p>
          <a:p>
            <a:pPr>
              <a:spcAft>
                <a:spcPts val="800"/>
              </a:spcAft>
              <a:defRPr sz="1300">
                <a:solidFill>
                  <a:srgbClr val="495057"/>
                </a:solidFill>
              </a:defRPr>
            </a:pPr>
            <a:r>
              <a:t>✗ 定制化：小功能定制化</a:t>
            </a:r>
          </a:p>
          <a:p>
            <a:pPr>
              <a:spcAft>
                <a:spcPts val="800"/>
              </a:spcAft>
              <a:defRPr sz="1300">
                <a:solidFill>
                  <a:srgbClr val="495057"/>
                </a:solidFill>
              </a:defRPr>
            </a:pPr>
            <a:r>
              <a:t>✗ 广东电信发布需比照代码，耗时3天，SRE手动操作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0" y="22860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667EEA"/>
                </a:solidFill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371600"/>
            <a:ext cx="5486400" cy="2560320"/>
          </a:xfrm>
          <a:prstGeom prst="roundRect">
            <a:avLst/>
          </a:prstGeom>
          <a:solidFill>
            <a:srgbClr val="F0FDF4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1508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现在 (2025)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874519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495057"/>
                </a:solidFill>
              </a:defRPr>
            </a:pPr>
            <a:r>
              <a:t>✓ Drive 简化部署</a:t>
            </a:r>
          </a:p>
          <a:p>
            <a:pPr>
              <a:spcAft>
                <a:spcPts val="800"/>
              </a:spcAft>
              <a:defRPr sz="1300">
                <a:solidFill>
                  <a:srgbClr val="495057"/>
                </a:solidFill>
              </a:defRPr>
            </a:pPr>
            <a:r>
              <a:t>✓ 成本低、利润可观</a:t>
            </a:r>
          </a:p>
          <a:p>
            <a:pPr>
              <a:spcAft>
                <a:spcPts val="800"/>
              </a:spcAft>
              <a:defRPr sz="1300">
                <a:solidFill>
                  <a:srgbClr val="495057"/>
                </a:solidFill>
              </a:defRPr>
            </a:pPr>
            <a:r>
              <a:t>✓ 定制化：大功能定制化</a:t>
            </a:r>
          </a:p>
          <a:p>
            <a:pPr>
              <a:spcAft>
                <a:spcPts val="800"/>
              </a:spcAft>
              <a:defRPr sz="1300">
                <a:solidFill>
                  <a:srgbClr val="495057"/>
                </a:solidFill>
              </a:defRPr>
            </a:pPr>
            <a:r>
              <a:t>✓ 直接拿包，SRE、研发均可操作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114800"/>
            <a:ext cx="3657600" cy="1097280"/>
          </a:xfrm>
          <a:prstGeom prst="roundRect">
            <a:avLst/>
          </a:prstGeom>
          <a:solidFill>
            <a:srgbClr val="F8F9FA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4114800"/>
            <a:ext cx="3657600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251960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🏢 广东电信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5262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C757D"/>
                </a:solidFill>
              </a:defRPr>
            </a:pPr>
            <a:r>
              <a:t>数据迁移：6-8小时 → 30分钟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66590" y="4114800"/>
            <a:ext cx="3657600" cy="1097280"/>
          </a:xfrm>
          <a:prstGeom prst="roundRect">
            <a:avLst/>
          </a:prstGeom>
          <a:solidFill>
            <a:srgbClr val="F8F9FA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66590" y="4114800"/>
            <a:ext cx="3657600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03750" y="4251960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📚 好未来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3750" y="45262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C757D"/>
                </a:solidFill>
              </a:defRPr>
            </a:pPr>
            <a:r>
              <a:t>灰度迁移方案落地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75980" y="4114800"/>
            <a:ext cx="3657600" cy="1097280"/>
          </a:xfrm>
          <a:prstGeom prst="roundRect">
            <a:avLst/>
          </a:prstGeom>
          <a:solidFill>
            <a:srgbClr val="F8F9FA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75980" y="4114800"/>
            <a:ext cx="3657600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13140" y="4251960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📱 OPPO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3140" y="45262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C757D"/>
                </a:solidFill>
              </a:defRPr>
            </a:pPr>
            <a:r>
              <a:t>双环境迁移方案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ADB5BD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私有化交付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C757D"/>
                </a:solidFill>
              </a:defRPr>
            </a:pPr>
            <a:r>
              <a:t>在 TOP10 客户上投入大量工时，确保交付质量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474720" cy="1188720"/>
          </a:xfrm>
          <a:prstGeom prst="roundRect">
            <a:avLst/>
          </a:prstGeom>
          <a:solidFill>
            <a:srgbClr val="F8F9FA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667EEA"/>
                </a:solidFill>
              </a:defRPr>
            </a:pPr>
            <a: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4884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C757D"/>
                </a:solidFill>
              </a:defRPr>
            </a:pPr>
            <a:r>
              <a:t>大版本升级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1371600"/>
            <a:ext cx="3474720" cy="1188720"/>
          </a:xfrm>
          <a:prstGeom prst="roundRect">
            <a:avLst/>
          </a:prstGeom>
          <a:solidFill>
            <a:srgbClr val="F8F9FA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60520" y="155448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667EEA"/>
                </a:solidFill>
              </a:defRPr>
            </a:pPr>
            <a: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14884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C757D"/>
                </a:solidFill>
              </a:defRPr>
            </a:pPr>
            <a:r>
              <a:t>正式交付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371600"/>
            <a:ext cx="3474720" cy="1188720"/>
          </a:xfrm>
          <a:prstGeom prst="roundRect">
            <a:avLst/>
          </a:prstGeom>
          <a:solidFill>
            <a:srgbClr val="F8F9FA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155448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667EEA"/>
                </a:solidFill>
              </a:defRPr>
            </a:pPr>
            <a:r>
              <a:t>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14884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C757D"/>
                </a:solidFill>
              </a:defRPr>
            </a:pPr>
            <a:r>
              <a:t>POC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834640"/>
            <a:ext cx="548640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834640"/>
            <a:ext cx="54864" cy="30175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9718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498DB"/>
                </a:solidFill>
              </a:defRPr>
            </a:pPr>
            <a:r>
              <a:t>🚀 自动化发布和升级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3832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495057"/>
                </a:solidFill>
              </a:defRPr>
            </a:pPr>
            <a:r>
              <a:t>✓ 确保 Drive 交付升级顺畅</a:t>
            </a:r>
          </a:p>
          <a:p>
            <a:pPr>
              <a:spcAft>
                <a:spcPts val="800"/>
              </a:spcAft>
              <a:defRPr sz="1300">
                <a:solidFill>
                  <a:srgbClr val="495057"/>
                </a:solidFill>
              </a:defRPr>
            </a:pPr>
            <a:r>
              <a:t>✓ 日志系统：客户侧问题尽快发现</a:t>
            </a:r>
          </a:p>
          <a:p>
            <a:pPr>
              <a:spcAft>
                <a:spcPts val="800"/>
              </a:spcAft>
              <a:defRPr sz="1300">
                <a:solidFill>
                  <a:srgbClr val="495057"/>
                </a:solidFill>
              </a:defRPr>
            </a:pPr>
            <a:r>
              <a:t>✓ 工具可视化：极大降低运维成本</a:t>
            </a:r>
          </a:p>
          <a:p>
            <a:pPr>
              <a:spcAft>
                <a:spcPts val="800"/>
              </a:spcAft>
              <a:defRPr sz="1300">
                <a:solidFill>
                  <a:srgbClr val="495057"/>
                </a:solidFill>
              </a:defRPr>
            </a:pPr>
            <a:r>
              <a:t>✓ POC 部署变得轻量化、去专业化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8095" y="2834640"/>
            <a:ext cx="548640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8095" y="2834640"/>
            <a:ext cx="54864" cy="30175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29718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9B59B6"/>
                </a:solidFill>
              </a:defRPr>
            </a:pPr>
            <a:r>
              <a:t>⚡ 技术突破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42900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9B59B6"/>
                </a:solidFill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79" y="33832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应用表格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79" y="3611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C757D"/>
                </a:solidFill>
              </a:defRPr>
            </a:pPr>
            <a:r>
              <a:t>百万单元格：无法打开 → 4.5s | 高级权限系统上线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93192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9B59B6"/>
                </a:solidFill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79" y="38862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极速 SDK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79" y="4114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C757D"/>
                </a:solidFill>
              </a:defRPr>
            </a:pPr>
            <a:r>
              <a:t>前端入口统一，性能大幅提升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ADB5BD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稳定性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C757D"/>
                </a:solidFill>
              </a:defRPr>
            </a:pPr>
            <a:r>
              <a:t>Bug 数逐月下降趋势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1A2E"/>
                </a:solidFill>
              </a:defRPr>
            </a:pPr>
            <a:r>
              <a:t>📊 月度缺陷数据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95057"/>
                </a:solidFill>
              </a:defRPr>
            </a:pPr>
            <a:r>
              <a:t>月份      SaaS      私有化      趋势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95057"/>
                </a:solidFill>
              </a:defRPr>
            </a:pPr>
            <a:r>
              <a:t>1月        162         33            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95057"/>
                </a:solidFill>
              </a:defRPr>
            </a:pPr>
            <a:r>
              <a:t>2月        73         95          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2608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95057"/>
                </a:solidFill>
              </a:defRPr>
            </a:pPr>
            <a:r>
              <a:t>3月        101         84         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4612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95057"/>
                </a:solidFill>
              </a:defRPr>
            </a:pPr>
            <a:r>
              <a:t>6月        65         73          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6616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95057"/>
                </a:solidFill>
              </a:defRPr>
            </a:pPr>
            <a:r>
              <a:t>9月        41         22            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862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95057"/>
                </a:solidFill>
              </a:defRPr>
            </a:pPr>
            <a:r>
              <a:t>12月        59         50            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8095" y="1371600"/>
            <a:ext cx="54864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48095" y="1371600"/>
            <a:ext cx="54864" cy="20116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508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7AE60"/>
                </a:solidFill>
              </a:defRPr>
            </a:pPr>
            <a:r>
              <a:t>✓ 关键指标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1920240"/>
            <a:ext cx="2377440" cy="1188720"/>
          </a:xfrm>
          <a:prstGeom prst="roundRect">
            <a:avLst/>
          </a:prstGeom>
          <a:solidFill>
            <a:srgbClr val="F8F9FA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05740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667EEA"/>
                </a:solidFill>
              </a:defRPr>
            </a:pPr>
            <a:r>
              <a:t>99.99%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56032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C757D"/>
                </a:solidFill>
              </a:defRPr>
            </a:pPr>
            <a:r>
              <a:t>SaaS 接口稳定性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1920240"/>
            <a:ext cx="2377440" cy="1188720"/>
          </a:xfrm>
          <a:prstGeom prst="roundRect">
            <a:avLst/>
          </a:prstGeom>
          <a:solidFill>
            <a:srgbClr val="F8F9FA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205740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667EEA"/>
                </a:solidFill>
              </a:defRPr>
            </a:pPr>
            <a:r>
              <a:t>99.9%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56032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C757D"/>
                </a:solidFill>
              </a:defRPr>
            </a:pPr>
            <a:r>
              <a:t>导入导出稳定性</a:t>
            </a:r>
            <a:br/>
            <a:r>
              <a:t>99.1% → 99.9%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8095" y="3566160"/>
            <a:ext cx="54864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8095" y="3566160"/>
            <a:ext cx="54864" cy="19202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37033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67E22"/>
                </a:solidFill>
              </a:defRPr>
            </a:pPr>
            <a:r>
              <a:t>⚠ SaaS 缺陷类型 Top3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1148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495057"/>
                </a:solidFill>
              </a:defRPr>
            </a:pPr>
            <a:r>
              <a:t>• 代码问题：384（69.3%）</a:t>
            </a:r>
          </a:p>
          <a:p>
            <a:pPr>
              <a:spcAft>
                <a:spcPts val="800"/>
              </a:spcAft>
              <a:defRPr sz="1300">
                <a:solidFill>
                  <a:srgbClr val="495057"/>
                </a:solidFill>
              </a:defRPr>
            </a:pPr>
            <a:r>
              <a:t>• 非问题：62</a:t>
            </a:r>
          </a:p>
          <a:p>
            <a:pPr>
              <a:spcAft>
                <a:spcPts val="800"/>
              </a:spcAft>
              <a:defRPr sz="1300">
                <a:solidFill>
                  <a:srgbClr val="495057"/>
                </a:solidFill>
              </a:defRPr>
            </a:pPr>
            <a:r>
              <a:t>• 需求上线引入：41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ADB5BD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稳定性保障措施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C757D"/>
                </a:solidFill>
              </a:defRPr>
            </a:pPr>
            <a:r>
              <a:t>从被客户问题拖累，到主动防御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4864" cy="384048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498DB"/>
                </a:solidFill>
              </a:defRPr>
            </a:pPr>
            <a:r>
              <a:t>🛡️ SaaS 保障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6596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498DB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值班制度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48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C757D"/>
                </a:solidFill>
              </a:defRPr>
            </a:pPr>
            <a:r>
              <a:t>7x24 小时响应机制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6888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498DB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231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报警配置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651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C757D"/>
                </a:solidFill>
              </a:defRPr>
            </a:pPr>
            <a:r>
              <a:t>150 条报警规则 | 重构后业务 &gt; 0 即报警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97180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498DB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9260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导入导出优化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154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C757D"/>
                </a:solidFill>
              </a:defRPr>
            </a:pPr>
            <a:r>
              <a:t>大量 SOP 支撑 | 工单减少 | 人员可更多做需求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8095" y="1371600"/>
            <a:ext cx="548640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48095" y="1371600"/>
            <a:ext cx="54864" cy="384048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508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9B59B6"/>
                </a:solidFill>
              </a:defRPr>
            </a:pPr>
            <a:r>
              <a:t>🎯 长期质量策略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1965960"/>
            <a:ext cx="5029200" cy="822960"/>
          </a:xfrm>
          <a:prstGeom prst="roundRect">
            <a:avLst/>
          </a:prstGeom>
          <a:solidFill>
            <a:srgbClr val="FEF5F5"/>
          </a:solidFill>
          <a:ln>
            <a:solidFill>
              <a:srgbClr val="F8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2057400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C3545"/>
                </a:solidFill>
              </a:defRPr>
            </a:pPr>
            <a:r>
              <a:t>短期：交付团队 + SOP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331720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C757D"/>
                </a:solidFill>
              </a:defRPr>
            </a:pPr>
            <a:r>
              <a:t>快速响应客户问题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2926080"/>
            <a:ext cx="5029200" cy="2103120"/>
          </a:xfrm>
          <a:prstGeom prst="roundRect">
            <a:avLst/>
          </a:prstGeom>
          <a:solidFill>
            <a:srgbClr val="F0FDF4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3017520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长期：质量稳定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33375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495057"/>
                </a:solidFill>
              </a:defRPr>
            </a:pPr>
            <a:r>
              <a:t>✓ 单元测试（AI 辅助）</a:t>
            </a:r>
          </a:p>
          <a:p>
            <a:pPr>
              <a:spcAft>
                <a:spcPts val="800"/>
              </a:spcAft>
              <a:defRPr sz="1300">
                <a:solidFill>
                  <a:srgbClr val="495057"/>
                </a:solidFill>
              </a:defRPr>
            </a:pPr>
            <a:r>
              <a:t>✓ 自动化测试（AI 辅助）</a:t>
            </a:r>
          </a:p>
          <a:p>
            <a:pPr>
              <a:spcAft>
                <a:spcPts val="800"/>
              </a:spcAft>
              <a:defRPr sz="1300">
                <a:solidFill>
                  <a:srgbClr val="495057"/>
                </a:solidFill>
              </a:defRPr>
            </a:pPr>
            <a:r>
              <a:t>✓ 运行错误：SaaS Error 日志 &gt; 0 即报警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394960"/>
            <a:ext cx="11277295" cy="54864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5321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目标：客户不想报 Bug，而是我们主动发现并解决问题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ADB5BD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内部体验机制（Dogfooding）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C757D"/>
                </a:solidFill>
              </a:defRPr>
            </a:pPr>
            <a:r>
              <a:t>从"被动修补"到"主动优化"的思维转变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4864" cy="2286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74C3C"/>
                </a:solidFill>
              </a:defRPr>
            </a:pPr>
            <a:r>
              <a:t>⚠ 核心痛点：脱离客户视角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495057"/>
                </a:solidFill>
              </a:defRPr>
            </a:pPr>
            <a:r>
              <a:t>✗ shimo.im 与 SDK 产品架构不统一，未真正体验私有化产品</a:t>
            </a:r>
          </a:p>
          <a:p>
            <a:pPr>
              <a:spcAft>
                <a:spcPts val="800"/>
              </a:spcAft>
              <a:defRPr sz="1300">
                <a:solidFill>
                  <a:srgbClr val="495057"/>
                </a:solidFill>
              </a:defRPr>
            </a:pPr>
            <a:r>
              <a:t>✗ 研发团队缺乏对私有化全站和 SDK 产品的真实使用体验</a:t>
            </a:r>
          </a:p>
          <a:p>
            <a:pPr>
              <a:spcAft>
                <a:spcPts val="800"/>
              </a:spcAft>
              <a:defRPr sz="1300">
                <a:solidFill>
                  <a:srgbClr val="495057"/>
                </a:solidFill>
              </a:defRPr>
            </a:pPr>
            <a:r>
              <a:t>✗ 对客户反馈的痛点重视不足，响应滞后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1371600"/>
            <a:ext cx="5486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48095" y="1371600"/>
            <a:ext cx="54864" cy="2286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508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7AE60"/>
                </a:solidFill>
              </a:defRPr>
            </a:pPr>
            <a:r>
              <a:t>✓ 变革举措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7AE60"/>
                </a:solidFill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79" y="1874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引入 Drive 团队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79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C757D"/>
                </a:solidFill>
              </a:defRPr>
            </a:pPr>
            <a:r>
              <a:t>作为 SDK 首个"内部客户"，在开发阶段即暴露集成与体验问题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42316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7AE60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79" y="23774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构建 shimo.net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79" y="2606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C757D"/>
                </a:solidFill>
              </a:defRPr>
            </a:pPr>
            <a:r>
              <a:t>全员使用 Drive + SDK 产品，将私有化升级作为内部日常办公环境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92608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7AE60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79" y="2880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真实环境暴露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79" y="3108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C757D"/>
                </a:solidFill>
              </a:defRPr>
            </a:pPr>
            <a:r>
              <a:t>通过私有化升级方式处理 shimo.net，把问题暴露到内部使用环境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840480"/>
            <a:ext cx="3657600" cy="1097280"/>
          </a:xfrm>
          <a:prstGeom prst="roundRect">
            <a:avLst/>
          </a:prstGeom>
          <a:solidFill>
            <a:srgbClr val="F8F9FA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840480"/>
            <a:ext cx="3657600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977640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💡 关键发现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25196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C757D"/>
                </a:solidFill>
              </a:defRPr>
            </a:pPr>
            <a:r>
              <a:t>客户提的问题都是对的</a:t>
            </a:r>
            <a:br/>
            <a:r>
              <a:t>例：协作头像 API 复杂、搜索对接 API 复杂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66590" y="3840480"/>
            <a:ext cx="3657600" cy="1097280"/>
          </a:xfrm>
          <a:prstGeom prst="roundRect">
            <a:avLst/>
          </a:prstGeom>
          <a:solidFill>
            <a:srgbClr val="F8F9FA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6590" y="3840480"/>
            <a:ext cx="3657600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03750" y="3977640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🎯 架构对齐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03750" y="425196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C757D"/>
                </a:solidFill>
              </a:defRPr>
            </a:pPr>
            <a:r>
              <a:t>与客户环境一致才能解决问题</a:t>
            </a:r>
            <a:br/>
            <a:r>
              <a:t>更早发现问题，在交付前拦截缺陷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75980" y="3840480"/>
            <a:ext cx="3657600" cy="1097280"/>
          </a:xfrm>
          <a:prstGeom prst="roundRect">
            <a:avLst/>
          </a:prstGeom>
          <a:solidFill>
            <a:srgbClr val="F8F9FA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75980" y="3840480"/>
            <a:ext cx="3657600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13140" y="3977640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🚀 主动优化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13140" y="425196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C757D"/>
                </a:solidFill>
              </a:defRPr>
            </a:pPr>
            <a:r>
              <a:t>有些问题不应属于定制化</a:t>
            </a:r>
            <a:br/>
            <a:r>
              <a:t>研发主动处理，提前优化体验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120640"/>
            <a:ext cx="11277295" cy="54864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5257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客户提的问题都是对的 —— 只有自己用了才知道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ADB5BD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AI 提效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C757D"/>
                </a:solidFill>
              </a:defRPr>
            </a:pPr>
            <a:r>
              <a:t>使用 AI 不是简单与 AI 对话 —— Skill、MCP、Agent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4864" cy="45720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9B59B6"/>
                </a:solidFill>
              </a:defRPr>
            </a:pPr>
            <a:r>
              <a:t>🤖 AI 应用场景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6596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9B59B6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海外类飞书项目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48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C757D"/>
                </a:solidFill>
              </a:defRPr>
            </a:pPr>
            <a:r>
              <a:t>1 个月完成 | 古法编程不可取，先用 AI 试试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6888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9B59B6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231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前后端联调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651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C757D"/>
                </a:solidFill>
              </a:defRPr>
            </a:pPr>
            <a:r>
              <a:t>AI 自己登录、探测浏览器报错、检测数据库数据准确性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97180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9B59B6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9260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项目预估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154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C757D"/>
                </a:solidFill>
              </a:defRPr>
            </a:pPr>
            <a:r>
              <a:t>给 CSV，AI 直接预估大项目、定制化项目工时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47472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9B59B6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4290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测试用例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657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C757D"/>
                </a:solidFill>
              </a:defRPr>
            </a:pPr>
            <a:r>
              <a:t>直接用 AI 转成 Playwright 自动化测试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8095" y="1371600"/>
            <a:ext cx="548640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8095" y="1371600"/>
            <a:ext cx="54864" cy="292608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1508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498DB"/>
                </a:solidFill>
              </a:defRPr>
            </a:pPr>
            <a:r>
              <a:t>📄 Word 预览突破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1965960"/>
            <a:ext cx="5029200" cy="2103120"/>
          </a:xfrm>
          <a:prstGeom prst="roundRect">
            <a:avLst/>
          </a:prstGeom>
          <a:solidFill>
            <a:srgbClr val="F0FDF4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2057400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Opus + MCP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23774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495057"/>
                </a:solidFill>
              </a:defRPr>
            </a:pPr>
            <a:r>
              <a:t>✓ 直接理解 Word OOXML</a:t>
            </a:r>
          </a:p>
          <a:p>
            <a:pPr>
              <a:spcAft>
                <a:spcPts val="800"/>
              </a:spcAft>
              <a:defRPr sz="1300">
                <a:solidFill>
                  <a:srgbClr val="495057"/>
                </a:solidFill>
              </a:defRPr>
            </a:pPr>
            <a:r>
              <a:t>✓ 快速提升新版 Word 预览</a:t>
            </a:r>
          </a:p>
          <a:p>
            <a:pPr>
              <a:spcAft>
                <a:spcPts val="800"/>
              </a:spcAft>
              <a:defRPr sz="1300">
                <a:solidFill>
                  <a:srgbClr val="495057"/>
                </a:solidFill>
              </a:defRPr>
            </a:pPr>
            <a:r>
              <a:t>✓ 比老石墨增加更多排版能力</a:t>
            </a:r>
          </a:p>
          <a:p>
            <a:pPr>
              <a:spcAft>
                <a:spcPts val="800"/>
              </a:spcAft>
              <a:defRPr sz="1300">
                <a:solidFill>
                  <a:srgbClr val="495057"/>
                </a:solidFill>
              </a:defRPr>
            </a:pPr>
            <a:r>
              <a:t>✓ 准确性大幅提升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48095" y="4480560"/>
            <a:ext cx="5486400" cy="9144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48095" y="47091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古法编程不可取</a:t>
            </a:r>
            <a:br/>
            <a:r>
              <a:t>无论如何先要用 AI 试试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ADB5BD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研发架构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C757D"/>
                </a:solidFill>
              </a:defRPr>
            </a:pPr>
            <a:r>
              <a:t>Drive + SDK + SDK Core 三层架构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1645920"/>
            <a:ext cx="2926080" cy="137160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96596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Drive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42316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最外层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20574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667EEA"/>
                </a:solidFill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60" y="1645920"/>
            <a:ext cx="2926080" cy="137160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94960" y="196596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SDK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242316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胶水层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0574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667EEA"/>
                </a:solidFill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645920"/>
            <a:ext cx="2926080" cy="13716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196596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SDK 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242316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纯套件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91840"/>
            <a:ext cx="11277295" cy="82296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5661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67EEA"/>
                </a:solidFill>
              </a:defRPr>
            </a:pPr>
            <a:r>
              <a:t>Drive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35661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95057"/>
                </a:solidFill>
              </a:defRPr>
            </a:pPr>
            <a:r>
              <a:t>职责：最外层，负责产品体验和商业化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5661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95057"/>
                </a:solidFill>
              </a:defRPr>
            </a:pPr>
            <a:r>
              <a:t>优势：聚焦核心场景和卖点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251960"/>
            <a:ext cx="11277295" cy="82296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5262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67EEA"/>
                </a:solidFill>
              </a:defRPr>
            </a:pPr>
            <a:r>
              <a:t>SDK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45262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95057"/>
                </a:solidFill>
              </a:defRPr>
            </a:pPr>
            <a:r>
              <a:t>职责：胶水层，统一前后端逻辑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45262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95057"/>
                </a:solidFill>
              </a:defRPr>
            </a:pPr>
            <a:r>
              <a:t>优势：统一私有化对接团队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212080"/>
            <a:ext cx="11277295" cy="82296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4864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67EEA"/>
                </a:solidFill>
              </a:defRPr>
            </a:pPr>
            <a:r>
              <a:t>SDK 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54864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95057"/>
                </a:solidFill>
              </a:defRPr>
            </a:pPr>
            <a:r>
              <a:t>职责：纯套件，专注 UI 库和 JS 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54864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95057"/>
                </a:solidFill>
              </a:defRPr>
            </a:pPr>
            <a:r>
              <a:t>优势：打造高可用 JS SDK 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ADB5BD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问题与挑战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C757D"/>
                </a:solidFill>
              </a:defRPr>
            </a:pPr>
            <a:r>
              <a:t>需要反思的问题 &amp; 持续面临的挑战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4864" cy="4114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74C3C"/>
                </a:solidFill>
              </a:defRPr>
            </a:pPr>
            <a:r>
              <a:t>🔍 需要反思的问题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6596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74C3C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客户反馈重视不够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48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C757D"/>
                </a:solidFill>
              </a:defRPr>
            </a:pPr>
            <a:r>
              <a:t>Dogfooding 后验证：客户是对的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6888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74C3C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231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代码问题占比高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651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C757D"/>
                </a:solidFill>
              </a:defRPr>
            </a:pPr>
            <a:r>
              <a:t>Bug 的 69.3% 为代码问题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97180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74C3C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9260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人员单点风险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154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C757D"/>
                </a:solidFill>
              </a:defRPr>
            </a:pPr>
            <a:r>
              <a:t>每个研发仅负责一个套件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8095" y="1371600"/>
            <a:ext cx="54864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48095" y="1371600"/>
            <a:ext cx="54864" cy="41148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508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67E22"/>
                </a:solidFill>
              </a:defRPr>
            </a:pPr>
            <a:r>
              <a:t>⚠ 持续面临的挑战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196596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67E22"/>
                </a:solidFill>
              </a:defRPr>
            </a:pPr>
            <a: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79" y="1920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专业文档功能不齐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79" y="2148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C757D"/>
                </a:solidFill>
              </a:defRPr>
            </a:pPr>
            <a:r>
              <a:t>功能覆盖度仍需提升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46888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67E22"/>
                </a:solidFill>
              </a:defRPr>
            </a:pPr>
            <a: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79" y="24231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幻灯片 H5 编辑缺失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79" y="2651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C757D"/>
                </a:solidFill>
              </a:defRPr>
            </a:pPr>
            <a:r>
              <a:t>移动端不支持编辑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97180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67E22"/>
                </a:solidFill>
              </a:defRPr>
            </a:pPr>
            <a: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79" y="29260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交付持续消耗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79" y="3154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C757D"/>
                </a:solidFill>
              </a:defRPr>
            </a:pPr>
            <a:r>
              <a:t>占总工时 20%+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ADB5BD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以客户为中心，迈向新征程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67EEA"/>
                </a:solidFill>
              </a:defRPr>
            </a:pPr>
            <a:r>
              <a:t>2026：向着"文档界的 GitLab"坚定迈进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26080"/>
            <a:ext cx="2651760" cy="1645920"/>
          </a:xfrm>
          <a:prstGeom prst="roundRect">
            <a:avLst/>
          </a:prstGeom>
          <a:solidFill>
            <a:srgbClr val="FFFFFF">
              <a:lumMod val="90000"/>
              <a:lumOff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15468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67EEA"/>
                </a:solidFill>
              </a:defRPr>
            </a:pPr>
            <a:r>
              <a:t>🚀 Drive 战略落地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5661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验证架构演进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2926080"/>
            <a:ext cx="2651760" cy="1645920"/>
          </a:xfrm>
          <a:prstGeom prst="roundRect">
            <a:avLst/>
          </a:prstGeom>
          <a:solidFill>
            <a:srgbClr val="FFFFFF">
              <a:lumMod val="90000"/>
              <a:lumOff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0" y="315468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67EEA"/>
                </a:solidFill>
              </a:defRPr>
            </a:pPr>
            <a:r>
              <a:t>👥 体验机制建立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35661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回归客户视角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2926080"/>
            <a:ext cx="2651760" cy="1645920"/>
          </a:xfrm>
          <a:prstGeom prst="roundRect">
            <a:avLst/>
          </a:prstGeom>
          <a:solidFill>
            <a:srgbClr val="FFFFFF">
              <a:lumMod val="90000"/>
              <a:lumOff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315468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67EEA"/>
                </a:solidFill>
              </a:defRPr>
            </a:pPr>
            <a:r>
              <a:t>⚙️ 自动化部署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5661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赋能商业推广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72600" y="2926080"/>
            <a:ext cx="2651760" cy="1645920"/>
          </a:xfrm>
          <a:prstGeom prst="roundRect">
            <a:avLst/>
          </a:prstGeom>
          <a:solidFill>
            <a:srgbClr val="FFFFFF">
              <a:lumMod val="90000"/>
              <a:lumOff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0" y="315468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67EEA"/>
                </a:solidFill>
              </a:defRPr>
            </a:pPr>
            <a:r>
              <a:t>📦 产品增强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0" y="35661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补齐套件功能短板</a:t>
            </a:r>
            <a:br/>
            <a:r>
              <a:t>SDK/JS API 全面增强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502920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667EEA"/>
                </a:solidFill>
              </a:defRPr>
            </a:pPr>
            <a:r>
              <a:t>99.99%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55321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SaaS 接口稳定性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502920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7AE60"/>
                </a:solidFill>
              </a:defRPr>
            </a:pPr>
            <a:r>
              <a:t>99.9%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55321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导入导出稳定性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502920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E67E22"/>
                </a:solidFill>
              </a:defRPr>
            </a:pPr>
            <a:r>
              <a:t>Bug 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55321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逐月下降趋势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